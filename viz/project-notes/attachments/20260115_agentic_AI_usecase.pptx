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6922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D2713-596B-4468-BBD7-117A283F661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F4010-0997-4A0D-8CE9-FD5C2750B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11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7741-8CFA-27BE-EFE5-2529D0CA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D5D00-0760-3616-8B4F-3F6172944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D23BC-BE47-24B1-D2CD-7806C935B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F320C-A5F8-2A40-9F5F-489B02B55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A2CD3-FB95-D94F-9F04-F9F995EAB8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07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0CE5-56E7-1693-3286-FF7D6BEE5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2D699-21F7-322B-54D4-0F6FA3622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17D40-E67B-07F7-3C90-74E0E7117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6F293-7AE4-79E8-1857-148922F4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19A3C-E32C-4189-3F5C-D44792182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2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F4B5-B2E2-448A-7074-05228752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60ADF-CF4F-6548-AB13-BCFCD2C99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F1E8-04AE-AAED-1D78-060B1BFB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3226A-3AA6-521D-B225-42F555F9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BF2D7-89E3-3A35-776C-A17F80D5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A7C8-1738-A9D0-5B0C-1FFA378A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F8D76-E20C-8791-D3EA-CC633C09A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C34EE-ED3C-45B6-9991-00FFA9BA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9952E-216E-66C6-7D93-837CFB3E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BA740-A9D2-142A-2894-31D7DF8BF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9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D257D-C852-3EC5-5272-93A8C6039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54E9-8D29-CF12-6FEB-6D217F771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2E33A-F0A9-315B-DC55-D14F3CAD9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2B560-2F05-D770-6579-646B1CA90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2169D-8FC4-DCC0-2292-22434468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88267-6D2D-AD2A-0647-6FDF22CEE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7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F610-7C95-5E70-6CDE-4DC0C98D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4BDCF-EC94-6D51-1E70-E498ECBCE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C6FAD-9036-96FD-79A4-BF52D87BE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E2F63-91B9-D121-8C85-03F47C5B0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3EAED-8860-BF63-3271-813DCB45D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BE320C-A3B2-0C3B-B6F5-9D4DACD4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0B551-EDE8-B1C4-AE94-CD0E737C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B2D08-EDE6-FF0C-1F22-C9FAFCB4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5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EE55-A2EF-21EB-580D-119D0DFD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88FC8-A422-73C8-F117-276BA096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25B852-22BD-C70B-6263-B54BE889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924D2-CB9F-3CB4-E559-38CB1F2D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3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28141-B15D-E846-A7E3-623CE173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1A97C-FD2D-1B0A-3435-0DD76AA4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B2663-0975-5058-99A7-3117CC7B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3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6513-46D2-BA10-2214-DD30AB22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D7D9D-7020-B82D-055A-E7F9B4392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B8041-6C79-6549-3EBC-DCC347947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A86D4-FEB3-4BF0-9D60-23CB1BDD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15001-7586-23F6-1D7A-33BBAF02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528F6-29E9-B3E9-BB4E-73A3F065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9071-C728-2816-C0A9-A93C72EB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5E1F7-0AC1-7A97-AD5C-08862026D4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CE294-AF05-10EA-DB4F-244A04C3C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02A22-D953-352D-7239-5223C330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DCB4A-6372-3AEC-01E2-3E1177E6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495A4-84C5-DDD7-CC80-3E81CDF5F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5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7C1C6-02C6-1456-AE96-D37185F1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ECFDB-94B7-0C03-EEBB-9E1772A8C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7A0C9-D548-EAD4-1F4D-B847E746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6FCE-D0EE-E2A8-DC40-0595321B8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222E-76EC-81A0-81E8-C66C6B80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6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ED5AF-86BA-7885-EA09-46E8C5FAE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01AB4-A2D9-3B6F-CFCF-926EC25B1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D075F-8F53-43CB-D5D0-9AA8DAA5E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C1FE3-4831-D376-897A-0D0BC796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07914-EF85-2724-3E9D-365CFDA6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34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230017"/>
            <a:ext cx="11658600" cy="908221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450072"/>
            <a:ext cx="11658600" cy="4610100"/>
          </a:xfrm>
        </p:spPr>
        <p:txBody>
          <a:bodyPr/>
          <a:lstStyle>
            <a:lvl1pPr marL="228600" indent="-228600">
              <a:spcBef>
                <a:spcPts val="18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tabLst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1500" indent="-228600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tabLst/>
              <a:defRPr sz="1800">
                <a:latin typeface="+mn-lt"/>
                <a:cs typeface="Arial" panose="020B0604020202020204" pitchFamily="34" charset="0"/>
              </a:defRPr>
            </a:lvl2pPr>
            <a:lvl3pPr marL="857250" indent="-171450"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sz="1600"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tx1"/>
              </a:buClr>
              <a:defRPr>
                <a:latin typeface="+mn-lt"/>
                <a:cs typeface="Arial" panose="020B0604020202020204" pitchFamily="34" charset="0"/>
              </a:defRPr>
            </a:lvl4pPr>
            <a:lvl5pPr marL="1482725" indent="-222250">
              <a:buClr>
                <a:schemeClr val="tx1"/>
              </a:buClr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838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C1726-6A03-1154-7536-2819C80B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0A6CB-D781-2DE2-D38A-B6F38AD2B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C171C-D45A-34D0-0BC2-AB9E1FE26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98060-DE3E-4321-AB25-F82C1F3926A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BE24A-20A9-EAC0-315F-599CEBAAA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FB798-4AED-E577-DC79-4AFD6DCC2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A363A-B82A-4F81-9C06-454A6348B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89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8206-341C-422B-1B42-02363560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ECDC-2E2C-6229-E1EA-ED60C6EA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A1FE1D-2DBA-53D9-EBA2-425F8C2A460C}"/>
              </a:ext>
            </a:extLst>
          </p:cNvPr>
          <p:cNvSpPr/>
          <p:nvPr/>
        </p:nvSpPr>
        <p:spPr>
          <a:xfrm>
            <a:off x="3053337" y="2349975"/>
            <a:ext cx="2057400" cy="516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Langchain</a:t>
            </a:r>
            <a:endParaRPr lang="en-US" sz="1400" dirty="0">
              <a:solidFill>
                <a:srgbClr val="000000"/>
              </a:solidFill>
            </a:endParaRPr>
          </a:p>
          <a:p>
            <a:pPr algn="ctr"/>
            <a:r>
              <a:rPr lang="en-US" sz="1000" dirty="0">
                <a:solidFill>
                  <a:srgbClr val="000000"/>
                </a:solidFill>
              </a:rPr>
              <a:t>Language prompt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3F118F-89D3-0F90-0F87-99CBFF7F5C02}"/>
              </a:ext>
            </a:extLst>
          </p:cNvPr>
          <p:cNvSpPr/>
          <p:nvPr/>
        </p:nvSpPr>
        <p:spPr>
          <a:xfrm>
            <a:off x="7188111" y="3772188"/>
            <a:ext cx="1227664" cy="516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DB</a:t>
            </a:r>
          </a:p>
          <a:p>
            <a:pPr algn="ctr"/>
            <a:r>
              <a:rPr lang="en-US" sz="1000" dirty="0">
                <a:solidFill>
                  <a:srgbClr val="000000"/>
                </a:solidFill>
              </a:rPr>
              <a:t>State: v1, v2, v3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0AA7C-FD5C-DC5E-711B-184758B88396}"/>
              </a:ext>
            </a:extLst>
          </p:cNvPr>
          <p:cNvSpPr/>
          <p:nvPr/>
        </p:nvSpPr>
        <p:spPr>
          <a:xfrm>
            <a:off x="1310260" y="3769731"/>
            <a:ext cx="2057400" cy="516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Simulation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C61165-9C3D-2040-986E-9FE464079691}"/>
              </a:ext>
            </a:extLst>
          </p:cNvPr>
          <p:cNvSpPr/>
          <p:nvPr/>
        </p:nvSpPr>
        <p:spPr>
          <a:xfrm>
            <a:off x="1310260" y="1526513"/>
            <a:ext cx="5552059" cy="5797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ChatGrid</a:t>
            </a:r>
            <a:endParaRPr lang="en-US" sz="1400" dirty="0">
              <a:solidFill>
                <a:srgbClr val="000000"/>
              </a:solidFill>
            </a:endParaRPr>
          </a:p>
          <a:p>
            <a:pPr algn="ctr"/>
            <a:r>
              <a:rPr lang="en-US" sz="1000" i="1" dirty="0">
                <a:solidFill>
                  <a:srgbClr val="000000"/>
                </a:solidFill>
              </a:rPr>
              <a:t>“Add a new generator to bus 200018, with </a:t>
            </a:r>
            <a:r>
              <a:rPr lang="en-US" sz="1000" i="1" dirty="0" err="1">
                <a:solidFill>
                  <a:srgbClr val="000000"/>
                </a:solidFill>
              </a:rPr>
              <a:t>Pmin</a:t>
            </a:r>
            <a:r>
              <a:rPr lang="en-US" sz="1000" i="1" dirty="0">
                <a:solidFill>
                  <a:srgbClr val="000000"/>
                </a:solidFill>
              </a:rPr>
              <a:t> = 60MW, Pmax = 400 MW, AGC on, ramp up 40 MW/min, ramp down 60 MW/min, cost function </a:t>
            </a:r>
            <a:r>
              <a:rPr lang="en-US" sz="1000" i="1" dirty="0" err="1">
                <a:solidFill>
                  <a:srgbClr val="000000"/>
                </a:solidFill>
              </a:rPr>
              <a:t>abc</a:t>
            </a:r>
            <a:r>
              <a:rPr lang="en-US" sz="1000" i="1" dirty="0">
                <a:solidFill>
                  <a:srgbClr val="000000"/>
                </a:solidFill>
              </a:rPr>
              <a:t>, and summarize its solution performance”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612049E-100C-7D44-B3FE-D092C9C7DB6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5489117" y="1459361"/>
            <a:ext cx="905747" cy="3719906"/>
          </a:xfrm>
          <a:prstGeom prst="bentConnector3">
            <a:avLst>
              <a:gd name="adj1" fmla="val 84587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89252F3-1C30-A925-3575-31F81536506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2758854" y="2446548"/>
            <a:ext cx="903290" cy="1743077"/>
          </a:xfrm>
          <a:prstGeom prst="bentConnector3">
            <a:avLst>
              <a:gd name="adj1" fmla="val 84461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85C31D-2ACF-21C7-A275-44BCF918CEC6}"/>
              </a:ext>
            </a:extLst>
          </p:cNvPr>
          <p:cNvSpPr txBox="1"/>
          <p:nvPr/>
        </p:nvSpPr>
        <p:spPr>
          <a:xfrm>
            <a:off x="4269359" y="2874905"/>
            <a:ext cx="278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000000"/>
                </a:solidFill>
              </a:rPr>
              <a:t>Copy, v2</a:t>
            </a:r>
          </a:p>
          <a:p>
            <a:r>
              <a:rPr lang="en-US" sz="1100" i="1" dirty="0">
                <a:solidFill>
                  <a:srgbClr val="000000"/>
                </a:solidFill>
              </a:rPr>
              <a:t>“INSERT INTO </a:t>
            </a:r>
            <a:r>
              <a:rPr lang="en-US" sz="1100" i="1" dirty="0" err="1">
                <a:solidFill>
                  <a:srgbClr val="000000"/>
                </a:solidFill>
              </a:rPr>
              <a:t>schema.generators</a:t>
            </a:r>
            <a:r>
              <a:rPr lang="en-US" sz="1100" i="1" dirty="0">
                <a:solidFill>
                  <a:srgbClr val="000000"/>
                </a:solidFill>
              </a:rPr>
              <a:t> (</a:t>
            </a:r>
            <a:r>
              <a:rPr lang="en-US" sz="1100" i="1" dirty="0" err="1">
                <a:solidFill>
                  <a:srgbClr val="000000"/>
                </a:solidFill>
              </a:rPr>
              <a:t>Pmin</a:t>
            </a:r>
            <a:r>
              <a:rPr lang="en-US" sz="1100" i="1" dirty="0">
                <a:solidFill>
                  <a:srgbClr val="000000"/>
                </a:solidFill>
              </a:rPr>
              <a:t>, Pmax, AGC, </a:t>
            </a:r>
            <a:r>
              <a:rPr lang="en-US" sz="1100" i="1" dirty="0" err="1">
                <a:solidFill>
                  <a:srgbClr val="000000"/>
                </a:solidFill>
              </a:rPr>
              <a:t>ramp_up</a:t>
            </a:r>
            <a:r>
              <a:rPr lang="en-US" sz="1100" i="1" dirty="0">
                <a:solidFill>
                  <a:srgbClr val="000000"/>
                </a:solidFill>
              </a:rPr>
              <a:t>, </a:t>
            </a:r>
            <a:r>
              <a:rPr lang="en-US" sz="1100" i="1" dirty="0" err="1">
                <a:solidFill>
                  <a:srgbClr val="000000"/>
                </a:solidFill>
              </a:rPr>
              <a:t>ramp_down</a:t>
            </a:r>
            <a:r>
              <a:rPr lang="en-US" sz="1100" i="1" dirty="0">
                <a:solidFill>
                  <a:srgbClr val="000000"/>
                </a:solidFill>
              </a:rPr>
              <a:t>)</a:t>
            </a:r>
          </a:p>
          <a:p>
            <a:r>
              <a:rPr lang="en-US" sz="1100" i="1" dirty="0">
                <a:solidFill>
                  <a:srgbClr val="000000"/>
                </a:solidFill>
              </a:rPr>
              <a:t>VALUES (%s, %s, %s, %s)”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5361D3-C5D4-A6CE-B156-058A1FCDA2FB}"/>
              </a:ext>
            </a:extLst>
          </p:cNvPr>
          <p:cNvSpPr txBox="1"/>
          <p:nvPr/>
        </p:nvSpPr>
        <p:spPr>
          <a:xfrm>
            <a:off x="6559859" y="3676539"/>
            <a:ext cx="700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</a:rPr>
              <a:t>v2.json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06559A4-FCE1-B44B-EC53-4E200EDC6221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4082037" y="2106308"/>
            <a:ext cx="4253" cy="243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6D38AD4-BAAE-30BF-2AAB-BB7EC94240ED}"/>
              </a:ext>
            </a:extLst>
          </p:cNvPr>
          <p:cNvSpPr/>
          <p:nvPr/>
        </p:nvSpPr>
        <p:spPr>
          <a:xfrm>
            <a:off x="1316608" y="2347559"/>
            <a:ext cx="1055157" cy="51646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OpenAI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CE5B928D-782C-56C7-DF33-AEAB8DCC690F}"/>
              </a:ext>
            </a:extLst>
          </p:cNvPr>
          <p:cNvCxnSpPr>
            <a:stCxn id="151" idx="3"/>
            <a:endCxn id="4" idx="1"/>
          </p:cNvCxnSpPr>
          <p:nvPr/>
        </p:nvCxnSpPr>
        <p:spPr>
          <a:xfrm>
            <a:off x="2371765" y="2605792"/>
            <a:ext cx="681572" cy="24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6888FC11-CFC0-80DB-4950-02C4050C145C}"/>
              </a:ext>
            </a:extLst>
          </p:cNvPr>
          <p:cNvSpPr txBox="1"/>
          <p:nvPr/>
        </p:nvSpPr>
        <p:spPr>
          <a:xfrm>
            <a:off x="2234750" y="3376108"/>
            <a:ext cx="17753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000000"/>
                </a:solidFill>
              </a:rPr>
              <a:t>./</a:t>
            </a:r>
            <a:r>
              <a:rPr lang="en-US" sz="1100" i="1" dirty="0" err="1">
                <a:solidFill>
                  <a:srgbClr val="000000"/>
                </a:solidFill>
              </a:rPr>
              <a:t>opflow</a:t>
            </a:r>
            <a:r>
              <a:rPr lang="en-US" sz="1100" i="1" dirty="0">
                <a:solidFill>
                  <a:srgbClr val="000000"/>
                </a:solidFill>
              </a:rPr>
              <a:t> -</a:t>
            </a:r>
            <a:r>
              <a:rPr lang="en-US" sz="1100" i="1" dirty="0" err="1">
                <a:solidFill>
                  <a:srgbClr val="000000"/>
                </a:solidFill>
              </a:rPr>
              <a:t>netfile</a:t>
            </a:r>
            <a:r>
              <a:rPr lang="en-US" sz="1100" i="1" dirty="0">
                <a:solidFill>
                  <a:srgbClr val="000000"/>
                </a:solidFill>
              </a:rPr>
              <a:t> v2.json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5099BAD-F44C-C9D7-81C7-E3C90D7922FD}"/>
              </a:ext>
            </a:extLst>
          </p:cNvPr>
          <p:cNvCxnSpPr>
            <a:cxnSpLocks/>
          </p:cNvCxnSpPr>
          <p:nvPr/>
        </p:nvCxnSpPr>
        <p:spPr>
          <a:xfrm flipH="1">
            <a:off x="3367660" y="3903729"/>
            <a:ext cx="38204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6C32E950-5AF7-5FCD-1092-124E4D522F63}"/>
              </a:ext>
            </a:extLst>
          </p:cNvPr>
          <p:cNvCxnSpPr>
            <a:cxnSpLocks/>
          </p:cNvCxnSpPr>
          <p:nvPr/>
        </p:nvCxnSpPr>
        <p:spPr>
          <a:xfrm>
            <a:off x="3367660" y="4152908"/>
            <a:ext cx="38204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9CF8F5A2-8226-B175-754A-B1C02008D491}"/>
              </a:ext>
            </a:extLst>
          </p:cNvPr>
          <p:cNvSpPr txBox="1"/>
          <p:nvPr/>
        </p:nvSpPr>
        <p:spPr>
          <a:xfrm>
            <a:off x="3397559" y="3922434"/>
            <a:ext cx="700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</a:rPr>
              <a:t>v3.json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5F396DE-D33B-55A7-62B8-B9E0797DFA69}"/>
              </a:ext>
            </a:extLst>
          </p:cNvPr>
          <p:cNvSpPr/>
          <p:nvPr/>
        </p:nvSpPr>
        <p:spPr>
          <a:xfrm>
            <a:off x="4653692" y="4748248"/>
            <a:ext cx="2057400" cy="516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Langchain</a:t>
            </a:r>
            <a:endParaRPr lang="en-US" sz="1400" dirty="0">
              <a:solidFill>
                <a:srgbClr val="000000"/>
              </a:solidFill>
            </a:endParaRPr>
          </a:p>
          <a:p>
            <a:pPr algn="ctr"/>
            <a:r>
              <a:rPr lang="en-US" sz="1000" dirty="0">
                <a:solidFill>
                  <a:srgbClr val="000000"/>
                </a:solidFill>
              </a:rPr>
              <a:t>Language prompt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970D98B-20BE-FCB4-AA62-4AA83E72567C}"/>
              </a:ext>
            </a:extLst>
          </p:cNvPr>
          <p:cNvSpPr/>
          <p:nvPr/>
        </p:nvSpPr>
        <p:spPr>
          <a:xfrm>
            <a:off x="2211959" y="4748248"/>
            <a:ext cx="2057400" cy="51646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Interface</a:t>
            </a:r>
          </a:p>
        </p:txBody>
      </p: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A6D11926-EA26-14D2-828F-6C2C600824B7}"/>
              </a:ext>
            </a:extLst>
          </p:cNvPr>
          <p:cNvCxnSpPr>
            <a:stCxn id="5" idx="2"/>
            <a:endCxn id="192" idx="0"/>
          </p:cNvCxnSpPr>
          <p:nvPr/>
        </p:nvCxnSpPr>
        <p:spPr>
          <a:xfrm rot="5400000">
            <a:off x="5291504" y="2237809"/>
            <a:ext cx="459594" cy="45612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: Elbow 206">
            <a:extLst>
              <a:ext uri="{FF2B5EF4-FFF2-40B4-BE49-F238E27FC236}">
                <a16:creationId xmlns:a16="http://schemas.microsoft.com/office/drawing/2014/main" id="{22265BAB-2ADF-1715-DA2B-6BC59AF32E85}"/>
              </a:ext>
            </a:extLst>
          </p:cNvPr>
          <p:cNvCxnSpPr>
            <a:stCxn id="5" idx="2"/>
            <a:endCxn id="191" idx="0"/>
          </p:cNvCxnSpPr>
          <p:nvPr/>
        </p:nvCxnSpPr>
        <p:spPr>
          <a:xfrm rot="5400000">
            <a:off x="6512371" y="3458676"/>
            <a:ext cx="459594" cy="21195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A1A8BFC7-197A-CD81-E5B7-04699B51F8CA}"/>
              </a:ext>
            </a:extLst>
          </p:cNvPr>
          <p:cNvSpPr txBox="1"/>
          <p:nvPr/>
        </p:nvSpPr>
        <p:spPr>
          <a:xfrm>
            <a:off x="1897894" y="4297203"/>
            <a:ext cx="1732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rgbClr val="000000"/>
                </a:solidFill>
              </a:rPr>
              <a:t>“Gen </a:t>
            </a:r>
            <a:r>
              <a:rPr lang="en-US" sz="1000" i="1" dirty="0" err="1">
                <a:solidFill>
                  <a:srgbClr val="000000"/>
                </a:solidFill>
              </a:rPr>
              <a:t>IDnew</a:t>
            </a:r>
            <a:r>
              <a:rPr lang="en-US" sz="1000" i="1" dirty="0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6C83D72-0417-975E-EB2B-738C2909FF01}"/>
              </a:ext>
            </a:extLst>
          </p:cNvPr>
          <p:cNvSpPr/>
          <p:nvPr/>
        </p:nvSpPr>
        <p:spPr>
          <a:xfrm>
            <a:off x="1310260" y="5461982"/>
            <a:ext cx="5552059" cy="5797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00000"/>
                </a:solidFill>
              </a:rPr>
              <a:t>ChatGrid</a:t>
            </a:r>
            <a:endParaRPr lang="en-US" sz="1400" dirty="0">
              <a:solidFill>
                <a:srgbClr val="000000"/>
              </a:solidFill>
            </a:endParaRPr>
          </a:p>
          <a:p>
            <a:pPr algn="ctr"/>
            <a:r>
              <a:rPr lang="en-US" sz="1000" i="1" dirty="0">
                <a:solidFill>
                  <a:srgbClr val="000000"/>
                </a:solidFill>
              </a:rPr>
              <a:t>“The new generator is loaded at 320 MW, system cost decreased by 0.4%, line load 200018-200019 increased from 40% to 50% of MVA limit”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214C269-A9CC-27B1-74E4-6986C21D2C65}"/>
              </a:ext>
            </a:extLst>
          </p:cNvPr>
          <p:cNvCxnSpPr>
            <a:stCxn id="191" idx="2"/>
          </p:cNvCxnSpPr>
          <p:nvPr/>
        </p:nvCxnSpPr>
        <p:spPr>
          <a:xfrm>
            <a:off x="5682392" y="5264714"/>
            <a:ext cx="0" cy="197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EACC3-313B-6252-DCED-063C8E9A1670}"/>
              </a:ext>
            </a:extLst>
          </p:cNvPr>
          <p:cNvSpPr/>
          <p:nvPr/>
        </p:nvSpPr>
        <p:spPr>
          <a:xfrm>
            <a:off x="4817845" y="3769731"/>
            <a:ext cx="1227664" cy="5164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0000"/>
                </a:solidFill>
              </a:rPr>
              <a:t>Parser</a:t>
            </a:r>
          </a:p>
        </p:txBody>
      </p:sp>
    </p:spTree>
    <p:extLst>
      <p:ext uri="{BB962C8B-B14F-4D97-AF65-F5344CB8AC3E}">
        <p14:creationId xmlns:p14="http://schemas.microsoft.com/office/powerpoint/2010/main" val="411411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Century Gothic</vt:lpstr>
      <vt:lpstr>Office Theme</vt:lpstr>
      <vt:lpstr>Agentic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Tsybina, Eve</dc:creator>
  <cp:lastModifiedBy>Tsybina, Eve</cp:lastModifiedBy>
  <cp:revision>1</cp:revision>
  <dcterms:created xsi:type="dcterms:W3CDTF">2026-01-14T22:40:27Z</dcterms:created>
  <dcterms:modified xsi:type="dcterms:W3CDTF">2026-01-14T22:40:49Z</dcterms:modified>
</cp:coreProperties>
</file>